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Vaaani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6EA8FE"/>
                </a:solidFill>
                <a:latin typeface="Calibri"/>
              </a:rPr>
              <a:t>The Linguistics Tutor for Grades 1–8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C9D2E3"/>
                </a:solidFill>
                <a:latin typeface="Calibri"/>
              </a:rPr>
              <a:t>Efficacy &amp; Design Rationale — how it is built to work, what it measures, and how we will prove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Neil Shankar Ray  ·  MA Applied Linguistics (14 yrs)  ·  AI/ML, IIT Patna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Every school teaches English. None teach how language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India's children arrive multilingual — a cognitive asset that classrooms treat as interference to be corrected.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English is taught as rules to memorise, decoupled from the sounds, words and meaning a child actually acquires.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Assessment reports marks, not the thinking behind an error — so teaching can't target the real gap.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Screens make children passive consumers (reels, games) at the exact age language is built through active use.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Result: fluent-on-paper, fragile-in-use English, and a mother tongue left on the shelf.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WHAT VAAANI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How language works — using the language a child already speaks.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118872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A1F2B"/>
                </a:solidFill>
                <a:latin typeface="Calibri"/>
              </a:rPr>
              <a:t>“Vaaani teaches children how language works — using the language they already speak at home as the bridge.”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A linguistics tutor (sounds, words, sentences, meaning, word-histories) for Grades 1–8, built for multilingual India.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Not exam prep, not a spoken-English app — a genuinely empty category with a clear school buyer.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The pedagogy is enforced in the engine's code, not promised in a brochure — which is the whole efficacy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EFFICACY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Pedagogy in code, not pedagogy in slideware.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A1F2B"/>
                </a:solidFill>
                <a:latin typeface="Calibri"/>
              </a:rPr>
              <a:t>•  Most edtech claims a pedagogy. Vaaani compiles it in — four principles, each backed by established learning science and each enforced by a mechanism a competitor cannot talk the model out of.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5303520" cy="123444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91440" cy="1234440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1F2B"/>
                </a:solidFill>
                <a:latin typeface="Calibri"/>
              </a:rPr>
              <a:t>1 — Sound before Symbol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200400"/>
            <a:ext cx="5303520" cy="123444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91440" cy="1234440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5643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1F2B"/>
                </a:solidFill>
                <a:latin typeface="Calibri"/>
              </a:rPr>
              <a:t>2 — Discovery before Definition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5303520" cy="123444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91440" cy="1234440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1F2B"/>
                </a:solidFill>
                <a:latin typeface="Calibri"/>
              </a:rPr>
              <a:t>3 — Mother Tongue as a Bridge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663440"/>
            <a:ext cx="5303520" cy="123444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663440"/>
            <a:ext cx="91440" cy="1234440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919472"/>
            <a:ext cx="4846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1F2B"/>
                </a:solidFill>
                <a:latin typeface="Calibri"/>
              </a:rPr>
              <a:t>4 — Evidence before Advancement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ROOT BRIDGE METHOD · PRINCIPLE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Sound before Symbol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35661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Phonemic awareness — hearing that 'thick' has 3 sounds but 5 letters — is among the strongest predictors of reading success.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Formal notation (IPA) before ~age 10 turns sound-play into decoding and slows acquisition.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Foundational-stage learning is oral first (NCF-SE 2023; NEP FLN mission).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56616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9D5C"/>
                </a:solidFill>
                <a:latin typeface="Calibri"/>
              </a:rPr>
              <a:t>HOW VAAANI ENFORCES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A serving-layer firewall physically rewrites any phonetic notation into plain sound-talk below the notation grade — even mid-stream.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Not a prompt the model can forget — deterministic code.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Grade gate default 5, school-configurable 4–6, hard floor at 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ROOT BRIDGE METHOD · PRINCIPLE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Discovery before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35661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The generation effect: learners retain what they discover far better than what they are told.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Guided discovery and Bruner's spiral: give the data, ask the question, let the child name the pattern.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NEP 4.6 calls for experiential, story-based pedagogy.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56616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9D5C"/>
                </a:solidFill>
                <a:latin typeface="Calibri"/>
              </a:rPr>
              <a:t>HOW VAAANI ENFORCES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Socratic mode is a first-class engine mode schools can enforce; answers are auto-checked against a no-direct-answer policy.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In the Word-Roots units, jargon (root, Latin, etymology) is forbidden through Grade 4 — the child catches the pattern first.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The tutor asks; it does not tell.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ROOT BRIDGE METHOD · PRINCIPLE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Mother Tongue as a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35661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Additive multilingualism has well-evidenced cognitive benefits; suppressing L1 harms L2 learning.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NEP 4.11: home language as medium to at least Grade 5; 4.12: multilingual advantage.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L1→L2 transfer ('iskool', 'van/wan') is a normal developmental stage, not a defect.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56616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9D5C"/>
                </a:solidFill>
                <a:latin typeface="Calibri"/>
              </a:rPr>
              <a:t>HOW VAAANI ENFORCES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Every word unit carries a Hindi/Bengali connection, with honest cognate-vs-translation distinction encoded in the data.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The Cognitive X-Ray names mother-tongue transfer as a first-class diagnosis and teaches it contrastively.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Answers are written so a non-English-fluent parent can follow.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ROOT BRIDGE METHOD · PRINCIPLE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Evidence before Advancement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" cy="356616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Retrieval practice and spaced repetition are among the most robust findings in learning science.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Two children who miss the same item can need opposite help — diagnosis must target the thinking, not the mark.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NEP 4.34+ / PARAKH: assessment FOR learning, competency-based.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09728" cy="356616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9D5C"/>
                </a:solidFill>
                <a:latin typeface="Calibri"/>
              </a:rPr>
              <a:t>HOW VAAANI ENFORCES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The Cognitive X-Ray classifies which of a linguistics-specific error taxonomy an answer was (transfer, letter-sound conflation, overgeneralisation…).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A graph-aware spaced-review engine resurfaces each concept exactly as it fades.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•  Weak spots steer the tutor's next questions; mastery is tracked per concept, per child.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MEASUREMENT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Efficacy you can see — the child's language brain, made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Every concept is a star: bright = mastered and well-remembered, dim = not yet discovered, amber = a memory fading toward review.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Per-child, live metrics: concepts, discovery %, connections, and Memory Health (average mastery).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A parent who can't read a mastery table can read a dim star — assessment-for-learning made legible.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1A1F2B"/>
                </a:solidFill>
                <a:latin typeface="Calibri"/>
              </a:rPr>
              <a:t>This is also the efficacy data engine: the graph is the longitudinal record a school and parent watch grow across a term — and the substrate for outcome studies.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THE MULTIMODAL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Point-See-Say, and Feel-Say-Measure — on nothing but a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Explore My World: the child points a camera at a real object; on-device recognition (frames never leave the phone) seeds a staged Language Journey ending in the child recording its story — production, not consumption. The anti-reel.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Feel the Sound: the phone's vibration motor renders voicing as a buzz (voiced = your voice-box vibrating); the mic then measures whether the child voiced it — a closed perception-production loop, all on-device.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>
                <a:solidFill>
                  <a:srgbClr val="1A1F2B"/>
                </a:solidFill>
                <a:latin typeface="Calibri"/>
              </a:rPr>
              <a:t>•  Grounded, embodied language learning — how children actually acquire language — using hardware every family already owns.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1F2B"/>
                </a:solidFill>
                <a:latin typeface="Calibri"/>
              </a:rPr>
              <a:t>These loops fuse Vaaani's tutor with contrastive acoustics — a defensible, uniquely-integrated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POLICY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Designed in alignment with NEP 2020 &amp; NCF-SE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NEP §2 / NIPUN Bharat (FLN): Band 1–2 is foundational literacy — oral, sound-first, no premature abstraction.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NEP 4.11 / NCF R1→R2: the home language is the bridge into English — Vaaani's core principle.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NEP 4.16: the Grades 6–8 'Languages of India' project — Vaaani's Band 4, systematised and individualised.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NEP 4.34+ / PARAKH: assessment for learning — the Cognitive X-Ray and living-brain graph.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1A1F2B"/>
                </a:solidFill>
                <a:latin typeface="Calibri"/>
              </a:rPr>
              <a:t>•  Say 'designed in alignment with' — never 'certified' or 'endorsed'.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HONEST STATUS &amp; VALIDATION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1F2B"/>
                </a:solidFill>
                <a:latin typeface="Calibri"/>
              </a:rPr>
              <a:t>Built on proven methods. Our own proof is the next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B5CD6"/>
                </a:solidFill>
                <a:latin typeface="Calibri"/>
              </a:rPr>
              <a:t>WHAT IS ESTABLISHED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The methods — phonemic awareness, retrieval practice, guided discovery, additive multilingualism — are settled learning science.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The product works end-to-end: tutor, Explore, Feel-Say-Measure, living-brain graph, per-child diagnosis.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Own Apache-licensed model, on-device, privacy-scoped per child and school.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9D5C"/>
                </a:solidFill>
                <a:latin typeface="Calibri"/>
              </a:rPr>
              <a:t>HOW WE PROVE VAAANI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Design-partner pilot: one school, real Grades 1–5, one term.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Pre/post measures: phonemic awareness, target-vocabulary retention, L1→L2 transfer errors, engagement time.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The living-brain graph is the built-in instrument — mastery growth is the primary outcome.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•  Honest framing: 'built on', never 'proven to' — until the pilot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Vaaani — Linguistics Tutor  ·  Efficacy &amp; Design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Watch your child's language brain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9D2E3"/>
                </a:solidFill>
                <a:latin typeface="Calibri"/>
              </a:rPr>
              <a:t>A linguistics tutor that turns a child's multilingual world — and their own camera and voice — into a growing, measurable language universe.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6EA8FE"/>
                </a:solidFill>
                <a:latin typeface="Calibri"/>
              </a:rPr>
              <a:t>The ask: one design-partner school, one term, to turn established method into measured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